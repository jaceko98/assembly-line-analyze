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cuu\Desktop\Jacek\zarz&#261;dzanie%20projektami\Projekt%20ogarn&#261;&#263;%20&#380;ycie\3.%20Praca\Zostanie%20data%20engineer\7.%20Zadanie%20-%20raportowanie%20problem&#243;w%20na%20linii%20X\Analiza%20danych%20X\Analiza%20danych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Analiza%20danych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Analiza%20danych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cuu\Desktop\Jacek\zarz&#261;dzanie%20projektami\Projekt%20ogarn&#261;&#263;%20&#380;ycie\3.%20Praca\Zostanie%20data%20engineer\7.%20Zadanie%20-%20raportowanie%20problem&#243;w%20na%20linii%20X\Analiza%20danych%20X\Analiza%20danych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'zejscia WORK 2'!$P$1</c:f>
              <c:strCache>
                <c:ptCount val="1"/>
                <c:pt idx="0">
                  <c:v>FPY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'zejscia WORK 2'!$AA$2:$AA$22</c:f>
              <c:strCache>
                <c:ptCount val="21"/>
                <c:pt idx="0">
                  <c:v>19.05.2017 1</c:v>
                </c:pt>
                <c:pt idx="1">
                  <c:v>19.05.2017 2</c:v>
                </c:pt>
                <c:pt idx="2">
                  <c:v>19.05.2017 3</c:v>
                </c:pt>
                <c:pt idx="3">
                  <c:v>20.05.2017 1</c:v>
                </c:pt>
                <c:pt idx="4">
                  <c:v>20.05.2017 2</c:v>
                </c:pt>
                <c:pt idx="5">
                  <c:v>20.05.2017 3</c:v>
                </c:pt>
                <c:pt idx="6">
                  <c:v>21.05.2017 1</c:v>
                </c:pt>
                <c:pt idx="7">
                  <c:v>21.05.2017 2</c:v>
                </c:pt>
                <c:pt idx="8">
                  <c:v>21.05.2017 3</c:v>
                </c:pt>
                <c:pt idx="9">
                  <c:v>22.05.2017 1</c:v>
                </c:pt>
                <c:pt idx="10">
                  <c:v>22.05.2017 2</c:v>
                </c:pt>
                <c:pt idx="11">
                  <c:v>22.05.2017 3</c:v>
                </c:pt>
                <c:pt idx="12">
                  <c:v>23.05.2017 1</c:v>
                </c:pt>
                <c:pt idx="13">
                  <c:v>23.05.2017 2</c:v>
                </c:pt>
                <c:pt idx="14">
                  <c:v>23.05.2017 3</c:v>
                </c:pt>
                <c:pt idx="15">
                  <c:v>24.05.2017 1</c:v>
                </c:pt>
                <c:pt idx="16">
                  <c:v>24.05.2017 2</c:v>
                </c:pt>
                <c:pt idx="17">
                  <c:v>24.05.2017 3</c:v>
                </c:pt>
                <c:pt idx="18">
                  <c:v>25.05.2017 1</c:v>
                </c:pt>
                <c:pt idx="19">
                  <c:v>25.05.2017 2</c:v>
                </c:pt>
                <c:pt idx="20">
                  <c:v>25.05.2017 3</c:v>
                </c:pt>
              </c:strCache>
            </c:strRef>
          </c:cat>
          <c:val>
            <c:numRef>
              <c:f>'zejscia WORK 2'!$AB$2:$AB$22</c:f>
              <c:numCache>
                <c:formatCode>0.00</c:formatCode>
                <c:ptCount val="21"/>
                <c:pt idx="0">
                  <c:v>76.890756302521012</c:v>
                </c:pt>
                <c:pt idx="1">
                  <c:v>91.428571428571431</c:v>
                </c:pt>
                <c:pt idx="2">
                  <c:v>96.529284164858993</c:v>
                </c:pt>
                <c:pt idx="3">
                  <c:v>97.552447552447546</c:v>
                </c:pt>
                <c:pt idx="4">
                  <c:v>93.686868686868678</c:v>
                </c:pt>
                <c:pt idx="5">
                  <c:v>91.153846153846146</c:v>
                </c:pt>
                <c:pt idx="6">
                  <c:v>93.872549019607845</c:v>
                </c:pt>
                <c:pt idx="7">
                  <c:v>95.882352941176478</c:v>
                </c:pt>
                <c:pt idx="8">
                  <c:v>92.757660167130922</c:v>
                </c:pt>
                <c:pt idx="9">
                  <c:v>97.002724795640333</c:v>
                </c:pt>
                <c:pt idx="10">
                  <c:v>98.730158730158735</c:v>
                </c:pt>
                <c:pt idx="11">
                  <c:v>99.120879120879124</c:v>
                </c:pt>
                <c:pt idx="12">
                  <c:v>96.498905908096276</c:v>
                </c:pt>
                <c:pt idx="13">
                  <c:v>94.308943089430898</c:v>
                </c:pt>
                <c:pt idx="14">
                  <c:v>92.533936651583716</c:v>
                </c:pt>
                <c:pt idx="15">
                  <c:v>95.964125560538122</c:v>
                </c:pt>
                <c:pt idx="16">
                  <c:v>90.163934426229503</c:v>
                </c:pt>
                <c:pt idx="17">
                  <c:v>94.279176201372991</c:v>
                </c:pt>
                <c:pt idx="18">
                  <c:v>92.643678160919535</c:v>
                </c:pt>
                <c:pt idx="19">
                  <c:v>98.205128205128204</c:v>
                </c:pt>
                <c:pt idx="20">
                  <c:v>94.878048780487802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8E-4429-A24E-737AD7D77A4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34278064"/>
        <c:axId val="734278424"/>
      </c:lineChart>
      <c:catAx>
        <c:axId val="734278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4278424"/>
        <c:crosses val="autoZero"/>
        <c:auto val="1"/>
        <c:lblAlgn val="ctr"/>
        <c:lblOffset val="100"/>
        <c:noMultiLvlLbl val="0"/>
      </c:catAx>
      <c:valAx>
        <c:axId val="734278424"/>
        <c:scaling>
          <c:orientation val="minMax"/>
          <c:min val="3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4278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l-PL" sz="2800" dirty="0"/>
              <a:t>Procentowy podział czasu straconego na przestoje</a:t>
            </a:r>
            <a:endParaRPr lang="en-US" sz="2800" dirty="0"/>
          </a:p>
        </c:rich>
      </c:tx>
      <c:layout>
        <c:manualLayout>
          <c:xMode val="edge"/>
          <c:yMode val="edge"/>
          <c:x val="0.10786045556320398"/>
          <c:y val="2.8373981224930994E-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16B-4BD6-8A48-1EACE578517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16B-4BD6-8A48-1EACE578517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16B-4BD6-8A48-1EACE578517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16B-4BD6-8A48-1EACE5785171}"/>
              </c:ext>
            </c:extLst>
          </c:dPt>
          <c:dPt>
            <c:idx val="4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16B-4BD6-8A48-1EACE5785171}"/>
              </c:ext>
            </c:extLst>
          </c:dPt>
          <c:dLbls>
            <c:dLbl>
              <c:idx val="0"/>
              <c:layout>
                <c:manualLayout>
                  <c:x val="-0.16173225717116518"/>
                  <c:y val="-0.1835337614413414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16B-4BD6-8A48-1EACE57851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'Awarie WORK2'!$S$1:$W$1</c:f>
              <c:strCache>
                <c:ptCount val="5"/>
                <c:pt idx="0">
                  <c:v>Procent awari</c:v>
                </c:pt>
                <c:pt idx="1">
                  <c:v>Procent IT</c:v>
                </c:pt>
                <c:pt idx="2">
                  <c:v>Procent Jakości</c:v>
                </c:pt>
                <c:pt idx="3">
                  <c:v>Procent Ogólny</c:v>
                </c:pt>
                <c:pt idx="4">
                  <c:v>Procent szkolenia</c:v>
                </c:pt>
              </c:strCache>
            </c:strRef>
          </c:cat>
          <c:val>
            <c:numRef>
              <c:f>'Awarie WORK2'!$S$2:$W$2</c:f>
              <c:numCache>
                <c:formatCode>0.00</c:formatCode>
                <c:ptCount val="5"/>
                <c:pt idx="0">
                  <c:v>81.989247311827967</c:v>
                </c:pt>
                <c:pt idx="1">
                  <c:v>1.3440860215053763</c:v>
                </c:pt>
                <c:pt idx="2">
                  <c:v>0.71684587813620071</c:v>
                </c:pt>
                <c:pt idx="3">
                  <c:v>10.663082437275985</c:v>
                </c:pt>
                <c:pt idx="4">
                  <c:v>5.2867383512544803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16B-4BD6-8A48-1EACE5785171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893914873384408"/>
          <c:y val="0.22557719883730915"/>
          <c:w val="0.19017754219174704"/>
          <c:h val="0.469392512462303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l-PL" sz="2800" dirty="0"/>
              <a:t>Czas stracony na przestoje [h]</a:t>
            </a:r>
            <a:endParaRPr lang="en-US" sz="2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B23-4014-A71E-CC73053C1A0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B23-4014-A71E-CC73053C1A0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B23-4014-A71E-CC73053C1A0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B23-4014-A71E-CC73053C1A0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B23-4014-A71E-CC73053C1A0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'Awarie WORK2'!$N$3:$R$3</c:f>
              <c:strCache>
                <c:ptCount val="5"/>
                <c:pt idx="0">
                  <c:v>Awarie</c:v>
                </c:pt>
                <c:pt idx="1">
                  <c:v>IT</c:v>
                </c:pt>
                <c:pt idx="2">
                  <c:v>Jakość</c:v>
                </c:pt>
                <c:pt idx="3">
                  <c:v>Ogólne</c:v>
                </c:pt>
                <c:pt idx="4">
                  <c:v>Szkolenia</c:v>
                </c:pt>
              </c:strCache>
            </c:strRef>
          </c:cat>
          <c:val>
            <c:numRef>
              <c:f>'Awarie WORK2'!$N$4:$R$4</c:f>
              <c:numCache>
                <c:formatCode>General</c:formatCode>
                <c:ptCount val="5"/>
                <c:pt idx="0">
                  <c:v>30.5</c:v>
                </c:pt>
                <c:pt idx="1">
                  <c:v>0.5</c:v>
                </c:pt>
                <c:pt idx="2" formatCode="0.00">
                  <c:v>0.26666666666666666</c:v>
                </c:pt>
                <c:pt idx="3" formatCode="0.00">
                  <c:v>3.9666666666666668</c:v>
                </c:pt>
                <c:pt idx="4" formatCode="0.00">
                  <c:v>1.9666666666666666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B23-4014-A71E-CC73053C1A0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6433942581133805"/>
          <c:y val="0.28430122056412938"/>
          <c:w val="0.12114151792731898"/>
          <c:h val="0.46423367741964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243241842858615E-2"/>
          <c:y val="5.360120660972157E-2"/>
          <c:w val="0.93557091030700135"/>
          <c:h val="0.77243869600850024"/>
        </c:manualLayout>
      </c:layout>
      <c:lineChart>
        <c:grouping val="standard"/>
        <c:varyColors val="0"/>
        <c:ser>
          <c:idx val="0"/>
          <c:order val="0"/>
          <c:tx>
            <c:strRef>
              <c:f>dashboards!$C$64</c:f>
              <c:strCache>
                <c:ptCount val="1"/>
                <c:pt idx="0">
                  <c:v>% czasu przestoju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2"/>
              <c:layout>
                <c:manualLayout>
                  <c:x val="-2.0946942414636533E-2"/>
                  <c:y val="1.66747357603683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FA8-4B51-9E7A-CB6A2EB5526E}"/>
                </c:ext>
              </c:extLst>
            </c:dLbl>
            <c:dLbl>
              <c:idx val="9"/>
              <c:layout>
                <c:manualLayout>
                  <c:x val="-5.945199823182379E-3"/>
                  <c:y val="3.139851306080201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FA8-4B51-9E7A-CB6A2EB5526E}"/>
                </c:ext>
              </c:extLst>
            </c:dLbl>
            <c:dLbl>
              <c:idx val="16"/>
              <c:layout>
                <c:manualLayout>
                  <c:x val="-1.5968635853107326E-2"/>
                  <c:y val="3.876040171101875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FA8-4B51-9E7A-CB6A2EB5526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dashboards!$B$65:$B$85</c:f>
              <c:strCache>
                <c:ptCount val="21"/>
                <c:pt idx="0">
                  <c:v>19.05.2017 1</c:v>
                </c:pt>
                <c:pt idx="1">
                  <c:v>19.05.2017 2</c:v>
                </c:pt>
                <c:pt idx="2">
                  <c:v>19.05.2017 3</c:v>
                </c:pt>
                <c:pt idx="3">
                  <c:v>20.05.2017 1</c:v>
                </c:pt>
                <c:pt idx="4">
                  <c:v>20.05.2017 2</c:v>
                </c:pt>
                <c:pt idx="5">
                  <c:v>20.05.2017 3</c:v>
                </c:pt>
                <c:pt idx="6">
                  <c:v>21.05.2017 1</c:v>
                </c:pt>
                <c:pt idx="7">
                  <c:v>21.05.2017 2</c:v>
                </c:pt>
                <c:pt idx="8">
                  <c:v>21.05.2017 3</c:v>
                </c:pt>
                <c:pt idx="9">
                  <c:v>22.05.2017 1</c:v>
                </c:pt>
                <c:pt idx="10">
                  <c:v>22.05.2017 2</c:v>
                </c:pt>
                <c:pt idx="11">
                  <c:v>22.05.2017 3</c:v>
                </c:pt>
                <c:pt idx="12">
                  <c:v>23.05.2017 1</c:v>
                </c:pt>
                <c:pt idx="13">
                  <c:v>23.05.2017 2</c:v>
                </c:pt>
                <c:pt idx="14">
                  <c:v>23.05.2017 3</c:v>
                </c:pt>
                <c:pt idx="15">
                  <c:v>24.05.2017 1</c:v>
                </c:pt>
                <c:pt idx="16">
                  <c:v>24.05.2017 2</c:v>
                </c:pt>
                <c:pt idx="17">
                  <c:v>24.05.2017 3</c:v>
                </c:pt>
                <c:pt idx="18">
                  <c:v>25.05.2017 1</c:v>
                </c:pt>
                <c:pt idx="19">
                  <c:v>25.05.2017 2</c:v>
                </c:pt>
                <c:pt idx="20">
                  <c:v>25.05.2017 3</c:v>
                </c:pt>
              </c:strCache>
            </c:strRef>
          </c:cat>
          <c:val>
            <c:numRef>
              <c:f>dashboards!$C$65:$C$85</c:f>
              <c:numCache>
                <c:formatCode>0.0</c:formatCode>
                <c:ptCount val="21"/>
                <c:pt idx="0">
                  <c:v>50</c:v>
                </c:pt>
                <c:pt idx="1">
                  <c:v>17.333333333333336</c:v>
                </c:pt>
                <c:pt idx="2">
                  <c:v>4.4444444444444446</c:v>
                </c:pt>
                <c:pt idx="3">
                  <c:v>0</c:v>
                </c:pt>
                <c:pt idx="4">
                  <c:v>0</c:v>
                </c:pt>
                <c:pt idx="5">
                  <c:v>34.222222222222221</c:v>
                </c:pt>
                <c:pt idx="6">
                  <c:v>0</c:v>
                </c:pt>
                <c:pt idx="7">
                  <c:v>0</c:v>
                </c:pt>
                <c:pt idx="8">
                  <c:v>13.333333333333334</c:v>
                </c:pt>
                <c:pt idx="9">
                  <c:v>63.111111111111107</c:v>
                </c:pt>
                <c:pt idx="10">
                  <c:v>58.888888888888893</c:v>
                </c:pt>
                <c:pt idx="11">
                  <c:v>13.555555555555557</c:v>
                </c:pt>
                <c:pt idx="12">
                  <c:v>7.5555555555555554</c:v>
                </c:pt>
                <c:pt idx="13">
                  <c:v>23.555555555555554</c:v>
                </c:pt>
                <c:pt idx="14">
                  <c:v>13.333333333333334</c:v>
                </c:pt>
                <c:pt idx="15">
                  <c:v>6.666666666666667</c:v>
                </c:pt>
                <c:pt idx="16">
                  <c:v>34.444444444444443</c:v>
                </c:pt>
                <c:pt idx="17">
                  <c:v>1.1111111111111112</c:v>
                </c:pt>
                <c:pt idx="18">
                  <c:v>12</c:v>
                </c:pt>
                <c:pt idx="19">
                  <c:v>12.222222222222221</c:v>
                </c:pt>
                <c:pt idx="20">
                  <c:v>10.888888888888888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FA8-4B51-9E7A-CB6A2EB5526E}"/>
            </c:ext>
          </c:extLst>
        </c:ser>
        <c:ser>
          <c:idx val="1"/>
          <c:order val="1"/>
          <c:tx>
            <c:strRef>
              <c:f>dashboards!$D$64</c:f>
              <c:strCache>
                <c:ptCount val="1"/>
                <c:pt idx="0">
                  <c:v>FPY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dashboards!$B$65:$B$85</c:f>
              <c:strCache>
                <c:ptCount val="21"/>
                <c:pt idx="0">
                  <c:v>19.05.2017 1</c:v>
                </c:pt>
                <c:pt idx="1">
                  <c:v>19.05.2017 2</c:v>
                </c:pt>
                <c:pt idx="2">
                  <c:v>19.05.2017 3</c:v>
                </c:pt>
                <c:pt idx="3">
                  <c:v>20.05.2017 1</c:v>
                </c:pt>
                <c:pt idx="4">
                  <c:v>20.05.2017 2</c:v>
                </c:pt>
                <c:pt idx="5">
                  <c:v>20.05.2017 3</c:v>
                </c:pt>
                <c:pt idx="6">
                  <c:v>21.05.2017 1</c:v>
                </c:pt>
                <c:pt idx="7">
                  <c:v>21.05.2017 2</c:v>
                </c:pt>
                <c:pt idx="8">
                  <c:v>21.05.2017 3</c:v>
                </c:pt>
                <c:pt idx="9">
                  <c:v>22.05.2017 1</c:v>
                </c:pt>
                <c:pt idx="10">
                  <c:v>22.05.2017 2</c:v>
                </c:pt>
                <c:pt idx="11">
                  <c:v>22.05.2017 3</c:v>
                </c:pt>
                <c:pt idx="12">
                  <c:v>23.05.2017 1</c:v>
                </c:pt>
                <c:pt idx="13">
                  <c:v>23.05.2017 2</c:v>
                </c:pt>
                <c:pt idx="14">
                  <c:v>23.05.2017 3</c:v>
                </c:pt>
                <c:pt idx="15">
                  <c:v>24.05.2017 1</c:v>
                </c:pt>
                <c:pt idx="16">
                  <c:v>24.05.2017 2</c:v>
                </c:pt>
                <c:pt idx="17">
                  <c:v>24.05.2017 3</c:v>
                </c:pt>
                <c:pt idx="18">
                  <c:v>25.05.2017 1</c:v>
                </c:pt>
                <c:pt idx="19">
                  <c:v>25.05.2017 2</c:v>
                </c:pt>
                <c:pt idx="20">
                  <c:v>25.05.2017 3</c:v>
                </c:pt>
              </c:strCache>
            </c:strRef>
          </c:cat>
          <c:val>
            <c:numRef>
              <c:f>dashboards!$D$65:$D$85</c:f>
              <c:numCache>
                <c:formatCode>0.00</c:formatCode>
                <c:ptCount val="21"/>
                <c:pt idx="0">
                  <c:v>76.890756302521012</c:v>
                </c:pt>
                <c:pt idx="1">
                  <c:v>91.428571428571431</c:v>
                </c:pt>
                <c:pt idx="2">
                  <c:v>96.529284164858993</c:v>
                </c:pt>
                <c:pt idx="3">
                  <c:v>97.552447552447546</c:v>
                </c:pt>
                <c:pt idx="4">
                  <c:v>93.686868686868678</c:v>
                </c:pt>
                <c:pt idx="5">
                  <c:v>91.153846153846146</c:v>
                </c:pt>
                <c:pt idx="6">
                  <c:v>93.872549019607845</c:v>
                </c:pt>
                <c:pt idx="7">
                  <c:v>95.882352941176478</c:v>
                </c:pt>
                <c:pt idx="8">
                  <c:v>92.757660167130922</c:v>
                </c:pt>
                <c:pt idx="9">
                  <c:v>97.002724795640333</c:v>
                </c:pt>
                <c:pt idx="10">
                  <c:v>98.730158730158735</c:v>
                </c:pt>
                <c:pt idx="11">
                  <c:v>99.120879120879124</c:v>
                </c:pt>
                <c:pt idx="12">
                  <c:v>96.498905908096276</c:v>
                </c:pt>
                <c:pt idx="13">
                  <c:v>94.308943089430898</c:v>
                </c:pt>
                <c:pt idx="14">
                  <c:v>92.533936651583716</c:v>
                </c:pt>
                <c:pt idx="15">
                  <c:v>95.964125560538122</c:v>
                </c:pt>
                <c:pt idx="16">
                  <c:v>90.163934426229503</c:v>
                </c:pt>
                <c:pt idx="17">
                  <c:v>94.279176201372991</c:v>
                </c:pt>
                <c:pt idx="18">
                  <c:v>92.643678160919535</c:v>
                </c:pt>
                <c:pt idx="19">
                  <c:v>98.205128205128204</c:v>
                </c:pt>
                <c:pt idx="20">
                  <c:v>94.878048780487802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FA8-4B51-9E7A-CB6A2EB5526E}"/>
            </c:ext>
          </c:extLst>
        </c:ser>
        <c:ser>
          <c:idx val="2"/>
          <c:order val="2"/>
          <c:tx>
            <c:strRef>
              <c:f>dashboards!$E$64</c:f>
              <c:strCache>
                <c:ptCount val="1"/>
                <c:pt idx="0">
                  <c:v>Wszystkie zmontowane / CEL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dashboards!$B$65:$B$85</c:f>
              <c:strCache>
                <c:ptCount val="21"/>
                <c:pt idx="0">
                  <c:v>19.05.2017 1</c:v>
                </c:pt>
                <c:pt idx="1">
                  <c:v>19.05.2017 2</c:v>
                </c:pt>
                <c:pt idx="2">
                  <c:v>19.05.2017 3</c:v>
                </c:pt>
                <c:pt idx="3">
                  <c:v>20.05.2017 1</c:v>
                </c:pt>
                <c:pt idx="4">
                  <c:v>20.05.2017 2</c:v>
                </c:pt>
                <c:pt idx="5">
                  <c:v>20.05.2017 3</c:v>
                </c:pt>
                <c:pt idx="6">
                  <c:v>21.05.2017 1</c:v>
                </c:pt>
                <c:pt idx="7">
                  <c:v>21.05.2017 2</c:v>
                </c:pt>
                <c:pt idx="8">
                  <c:v>21.05.2017 3</c:v>
                </c:pt>
                <c:pt idx="9">
                  <c:v>22.05.2017 1</c:v>
                </c:pt>
                <c:pt idx="10">
                  <c:v>22.05.2017 2</c:v>
                </c:pt>
                <c:pt idx="11">
                  <c:v>22.05.2017 3</c:v>
                </c:pt>
                <c:pt idx="12">
                  <c:v>23.05.2017 1</c:v>
                </c:pt>
                <c:pt idx="13">
                  <c:v>23.05.2017 2</c:v>
                </c:pt>
                <c:pt idx="14">
                  <c:v>23.05.2017 3</c:v>
                </c:pt>
                <c:pt idx="15">
                  <c:v>24.05.2017 1</c:v>
                </c:pt>
                <c:pt idx="16">
                  <c:v>24.05.2017 2</c:v>
                </c:pt>
                <c:pt idx="17">
                  <c:v>24.05.2017 3</c:v>
                </c:pt>
                <c:pt idx="18">
                  <c:v>25.05.2017 1</c:v>
                </c:pt>
                <c:pt idx="19">
                  <c:v>25.05.2017 2</c:v>
                </c:pt>
                <c:pt idx="20">
                  <c:v>25.05.2017 3</c:v>
                </c:pt>
              </c:strCache>
            </c:strRef>
          </c:cat>
          <c:val>
            <c:numRef>
              <c:f>dashboards!$E$65:$E$85</c:f>
              <c:numCache>
                <c:formatCode>0.0</c:formatCode>
                <c:ptCount val="21"/>
                <c:pt idx="0">
                  <c:v>50.773333333333341</c:v>
                </c:pt>
                <c:pt idx="1">
                  <c:v>61.707988980716252</c:v>
                </c:pt>
                <c:pt idx="2">
                  <c:v>98.346666666666664</c:v>
                </c:pt>
                <c:pt idx="3">
                  <c:v>61.013333333333328</c:v>
                </c:pt>
                <c:pt idx="4">
                  <c:v>84.48</c:v>
                </c:pt>
                <c:pt idx="5">
                  <c:v>75.090252707581229</c:v>
                </c:pt>
                <c:pt idx="6">
                  <c:v>90.165745856353595</c:v>
                </c:pt>
                <c:pt idx="7">
                  <c:v>45.033112582781456</c:v>
                </c:pt>
                <c:pt idx="8">
                  <c:v>76.586666666666673</c:v>
                </c:pt>
                <c:pt idx="9">
                  <c:v>78.293333333333337</c:v>
                </c:pt>
                <c:pt idx="10">
                  <c:v>67.2</c:v>
                </c:pt>
                <c:pt idx="11">
                  <c:v>97.066666666666663</c:v>
                </c:pt>
                <c:pt idx="12">
                  <c:v>97.493333333333325</c:v>
                </c:pt>
                <c:pt idx="13">
                  <c:v>78.72</c:v>
                </c:pt>
                <c:pt idx="14">
                  <c:v>94.293333333333322</c:v>
                </c:pt>
                <c:pt idx="15">
                  <c:v>95.146666666666675</c:v>
                </c:pt>
                <c:pt idx="16">
                  <c:v>78.08</c:v>
                </c:pt>
                <c:pt idx="17">
                  <c:v>93.226666666666674</c:v>
                </c:pt>
                <c:pt idx="18">
                  <c:v>92.800000000000011</c:v>
                </c:pt>
                <c:pt idx="19">
                  <c:v>83.2</c:v>
                </c:pt>
                <c:pt idx="20">
                  <c:v>87.466666666666669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FA8-4B51-9E7A-CB6A2EB5526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64565552"/>
        <c:axId val="764565912"/>
      </c:lineChart>
      <c:catAx>
        <c:axId val="764565552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4565912"/>
        <c:crosses val="autoZero"/>
        <c:auto val="1"/>
        <c:lblAlgn val="ctr"/>
        <c:lblOffset val="100"/>
        <c:noMultiLvlLbl val="0"/>
      </c:catAx>
      <c:valAx>
        <c:axId val="764565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1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Wartość [%]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4565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32A8-67B2-4540-89F6-313E0AD6D97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6082-DE86-4278-80F5-9DB204DA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7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32A8-67B2-4540-89F6-313E0AD6D97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6082-DE86-4278-80F5-9DB204DA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503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32A8-67B2-4540-89F6-313E0AD6D97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6082-DE86-4278-80F5-9DB204DA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76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32A8-67B2-4540-89F6-313E0AD6D97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6082-DE86-4278-80F5-9DB204DA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15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32A8-67B2-4540-89F6-313E0AD6D97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6082-DE86-4278-80F5-9DB204DA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53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32A8-67B2-4540-89F6-313E0AD6D97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6082-DE86-4278-80F5-9DB204DA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93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32A8-67B2-4540-89F6-313E0AD6D97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6082-DE86-4278-80F5-9DB204DA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73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32A8-67B2-4540-89F6-313E0AD6D97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6082-DE86-4278-80F5-9DB204DA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32A8-67B2-4540-89F6-313E0AD6D97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6082-DE86-4278-80F5-9DB204DA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80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32A8-67B2-4540-89F6-313E0AD6D97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6082-DE86-4278-80F5-9DB204DA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746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32A8-67B2-4540-89F6-313E0AD6D97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6082-DE86-4278-80F5-9DB204DA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03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32A8-67B2-4540-89F6-313E0AD6D97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6082-DE86-4278-80F5-9DB204DA4D6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4600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32A8-67B2-4540-89F6-313E0AD6D97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6082-DE86-4278-80F5-9DB204DA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78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32A8-67B2-4540-89F6-313E0AD6D97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6082-DE86-4278-80F5-9DB204DA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99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32A8-67B2-4540-89F6-313E0AD6D97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6082-DE86-4278-80F5-9DB204DA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59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32A8-67B2-4540-89F6-313E0AD6D97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6082-DE86-4278-80F5-9DB204DA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40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32A8-67B2-4540-89F6-313E0AD6D97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D6082-DE86-4278-80F5-9DB204DA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099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D9432A8-67B2-4540-89F6-313E0AD6D97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2D6082-DE86-4278-80F5-9DB204DA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672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97624-B79F-5A34-EA7E-19398F7D93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Analiza problemów na linii montażowej X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B7C7D-8976-49FD-72E1-CFE936D054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93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EB71755-17D0-E601-B947-85645F51CB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0902770"/>
              </p:ext>
            </p:extLst>
          </p:nvPr>
        </p:nvGraphicFramePr>
        <p:xfrm>
          <a:off x="490601" y="393291"/>
          <a:ext cx="11210797" cy="60566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7320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32DF91E-1077-423D-AD10-4933BBAFBF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8975195"/>
              </p:ext>
            </p:extLst>
          </p:nvPr>
        </p:nvGraphicFramePr>
        <p:xfrm>
          <a:off x="2276272" y="817124"/>
          <a:ext cx="7702378" cy="5431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2843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39AE0CE-F38F-487D-6B57-8EA272894E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3887027"/>
              </p:ext>
            </p:extLst>
          </p:nvPr>
        </p:nvGraphicFramePr>
        <p:xfrm>
          <a:off x="1896894" y="554477"/>
          <a:ext cx="7675123" cy="5713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41751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C559-5C6A-A6A2-8800-4EA783F03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Podsumowanie i wnioski etap 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D3050-F6C0-35C4-55F3-1E83AF59D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FPY dla ponad połowy zmian </a:t>
            </a:r>
            <a:r>
              <a:rPr lang="pl-PL" dirty="0" err="1"/>
              <a:t>wynosiłpowyżej</a:t>
            </a:r>
            <a:r>
              <a:rPr lang="pl-PL" dirty="0"/>
              <a:t> 90% co pokazuje, że nie jest to kluczowy problem, lecz jest tu możliwość do poprawy i dalszego doskonalenia. </a:t>
            </a:r>
          </a:p>
          <a:p>
            <a:r>
              <a:rPr lang="pl-PL" dirty="0"/>
              <a:t>Prawie 82% czasu poświęconego na przestoje linii jest generowane przez awarie i serwisy i jest to główna przyczyna przestojów linii którą należało by zająć się w pierwszej kolejności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46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25445-AE2F-479D-06A2-B6CB3653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89" y="6096000"/>
            <a:ext cx="11674935" cy="606088"/>
          </a:xfrm>
        </p:spPr>
        <p:txBody>
          <a:bodyPr/>
          <a:lstStyle/>
          <a:p>
            <a:r>
              <a:rPr lang="pl-PL" sz="1500" dirty="0"/>
              <a:t>* We wcześniejszym wykresie został znaleziony błąd w wyliczonych wartościach FPY, co zostało poprawione na następnym wykresie</a:t>
            </a:r>
            <a:endParaRPr lang="en-US" sz="15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51B0BE5-D7BC-37A1-B834-61983E4CC1AC}"/>
              </a:ext>
            </a:extLst>
          </p:cNvPr>
          <p:cNvSpPr txBox="1">
            <a:spLocks/>
          </p:cNvSpPr>
          <p:nvPr/>
        </p:nvSpPr>
        <p:spPr>
          <a:xfrm>
            <a:off x="3088815" y="2965786"/>
            <a:ext cx="6319170" cy="12312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l-PL" sz="5400"/>
              <a:t>Drugi etap analizy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403926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78913-F89C-006D-693B-0748B5494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6" y="166968"/>
            <a:ext cx="9674839" cy="928407"/>
          </a:xfrm>
        </p:spPr>
        <p:txBody>
          <a:bodyPr/>
          <a:lstStyle/>
          <a:p>
            <a:r>
              <a:rPr lang="pl-PL" sz="2400" dirty="0"/>
              <a:t>Porównanie wskaźnika FPY, awarii i wydajności z podziałem na poszczególne zmiany w przedziale tygodnia</a:t>
            </a:r>
            <a:endParaRPr lang="en-US" sz="24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BA82575-9346-2B1A-1450-5F702DCDDD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1008554"/>
              </p:ext>
            </p:extLst>
          </p:nvPr>
        </p:nvGraphicFramePr>
        <p:xfrm>
          <a:off x="365759" y="752354"/>
          <a:ext cx="11384281" cy="59386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18869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D4826-ED25-48CB-8FEF-7F32C0C76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CA68-5DAA-9586-3B01-C24DBEB6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Podsumowanie i wnioski etap II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DEC0A-E893-3BD1-6AAB-4DB3F245A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1600" dirty="0"/>
              <a:t>Porównanie wskaźników na jednym wykresie daje możliwość szerszej analizy występujących problemów. Dzięki temu można określić czy dany wskaźnik jest jakoś skorelowany z innym. </a:t>
            </a:r>
          </a:p>
          <a:p>
            <a:r>
              <a:rPr lang="pl-PL" sz="1600" dirty="0"/>
              <a:t>Analiza FPY pokazuje, że wskaźnik praktycznie nie spada poniżej 90%, co świadczy o jego stabilności. Można pracować nad jego poprawą, lecz nie jest to główna przyczyna problemów.</a:t>
            </a:r>
          </a:p>
          <a:p>
            <a:r>
              <a:rPr lang="pl-PL" sz="1600" dirty="0"/>
              <a:t>Analiza wskaźnika wydajności pokazuje dużą zmienność, która może wynikać z przestojów linii i na jej ustabilizowaniu należałoby się skupić. Dodatkowo widać, że drugie zmiany na ogół mają niższą wydajność niż zmiany 1 i 3 co mogłoby świadczyć o czynniku ludzkim. W dalszych krokach należałoby skupić się na analizie przestojów na drugiej zmianie, oraz pracy operatorów.</a:t>
            </a:r>
          </a:p>
          <a:p>
            <a:r>
              <a:rPr lang="pl-PL" sz="1600" dirty="0"/>
              <a:t>Analiza wskaźnika awarii również pokazuje dużą zmienność i na jego analizie będziemy skupiać się w dalszej części analizy. Ponadto widać, że jego wzrost wpływa na wskaźnik wydajności. </a:t>
            </a:r>
          </a:p>
        </p:txBody>
      </p:sp>
    </p:spTree>
    <p:extLst>
      <p:ext uri="{BB962C8B-B14F-4D97-AF65-F5344CB8AC3E}">
        <p14:creationId xmlns:p14="http://schemas.microsoft.com/office/powerpoint/2010/main" val="39319363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233</TotalTime>
  <Words>279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Analiza problemów na linii montażowej X</vt:lpstr>
      <vt:lpstr>PowerPoint Presentation</vt:lpstr>
      <vt:lpstr>PowerPoint Presentation</vt:lpstr>
      <vt:lpstr>PowerPoint Presentation</vt:lpstr>
      <vt:lpstr>Podsumowanie i wnioski etap I</vt:lpstr>
      <vt:lpstr>* We wcześniejszym wykresie został znaleziony błąd w wyliczonych wartościach FPY, co zostało poprawione na następnym wykresie</vt:lpstr>
      <vt:lpstr>Porównanie wskaźnika FPY, awarii i wydajności z podziałem na poszczególne zmiany w przedziale tygodnia</vt:lpstr>
      <vt:lpstr>Podsumowanie i wnioski etap II</vt:lpstr>
    </vt:vector>
  </TitlesOfParts>
  <Company>Danfoss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Jacek Ostrowski</dc:creator>
  <cp:lastModifiedBy>Jacek Ostrowski</cp:lastModifiedBy>
  <cp:revision>6</cp:revision>
  <dcterms:created xsi:type="dcterms:W3CDTF">2025-05-16T07:34:45Z</dcterms:created>
  <dcterms:modified xsi:type="dcterms:W3CDTF">2026-05-09T14:31:53Z</dcterms:modified>
</cp:coreProperties>
</file>