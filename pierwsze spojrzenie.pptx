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2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acuu\Desktop\Jacek\zarz&#261;dzanie%20projektami\Projekt%20ogarn&#261;&#263;%20&#380;ycie\3.%20Praca\Zostanie%20data%20engineer\7.%20Zadanie%20-%20raportowanie%20problem&#243;w%20na%20linii%20X\Analiza%20danych%20X\Analiza%20danych_SALTED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acuu\Desktop\Jacek\zarz&#261;dzanie%20projektami\Projekt%20ogarn&#261;&#263;%20&#380;ycie\3.%20Praca\Zostanie%20data%20engineer\7.%20Zadanie%20-%20raportowanie%20problem&#243;w%20na%20linii%20X\Analiza%20danych%20X\Analiza%20danych_SALTED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acuu\Desktop\Jacek\zarz&#261;dzanie%20projektami\Projekt%20ogarn&#261;&#263;%20&#380;ycie\3.%20Praca\Zostanie%20data%20engineer\7.%20Zadanie%20-%20raportowanie%20problem&#243;w%20na%20linii%20X\Analiza%20danych%20X\Analiza%20danych_SALTED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acuu\Desktop\Jacek\zarz&#261;dzanie%20projektami\Projekt%20ogarn&#261;&#263;%20&#380;ycie\3.%20Praca\Zostanie%20data%20engineer\7.%20Zadanie%20-%20raportowanie%20problem&#243;w%20na%20linii%20X\Analiza%20danych%20X\Analiza%20danych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'zejscia WORK 2'!$P$1</c:f>
              <c:strCache>
                <c:ptCount val="1"/>
                <c:pt idx="0">
                  <c:v>FPY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'zejscia WORK 2'!$M$2:$M$22</c:f>
              <c:strCache>
                <c:ptCount val="21"/>
                <c:pt idx="0">
                  <c:v>21.02.2016 -1</c:v>
                </c:pt>
                <c:pt idx="1">
                  <c:v>21.02.2016 -2</c:v>
                </c:pt>
                <c:pt idx="2">
                  <c:v>21.02.2016 -3</c:v>
                </c:pt>
                <c:pt idx="3">
                  <c:v>22.02.2016 -1</c:v>
                </c:pt>
                <c:pt idx="4">
                  <c:v>22.02.2016 -2</c:v>
                </c:pt>
                <c:pt idx="5">
                  <c:v>22.02.2016 -3</c:v>
                </c:pt>
                <c:pt idx="6">
                  <c:v>23.02.2016 -1</c:v>
                </c:pt>
                <c:pt idx="7">
                  <c:v>23.02.2016 -2</c:v>
                </c:pt>
                <c:pt idx="8">
                  <c:v>23.02.2016 -3</c:v>
                </c:pt>
                <c:pt idx="9">
                  <c:v>24.02.2016 -1</c:v>
                </c:pt>
                <c:pt idx="10">
                  <c:v>24.02.2016 -2</c:v>
                </c:pt>
                <c:pt idx="11">
                  <c:v>24.02.2016 -3</c:v>
                </c:pt>
                <c:pt idx="12">
                  <c:v>25.02.2016 -1</c:v>
                </c:pt>
                <c:pt idx="13">
                  <c:v>25.02.2016 -2</c:v>
                </c:pt>
                <c:pt idx="14">
                  <c:v>25.02.2016 -3</c:v>
                </c:pt>
                <c:pt idx="15">
                  <c:v>26.02.2016 -1</c:v>
                </c:pt>
                <c:pt idx="16">
                  <c:v>26.02.2016 -2</c:v>
                </c:pt>
                <c:pt idx="17">
                  <c:v>26.02.2016 -3</c:v>
                </c:pt>
                <c:pt idx="18">
                  <c:v>27.02.2016 -1</c:v>
                </c:pt>
                <c:pt idx="19">
                  <c:v>27.02.2016 -2</c:v>
                </c:pt>
                <c:pt idx="20">
                  <c:v>27.02.2016 -3</c:v>
                </c:pt>
              </c:strCache>
            </c:strRef>
          </c:cat>
          <c:val>
            <c:numRef>
              <c:f>'zejscia WORK 2'!$P$2:$P$22</c:f>
              <c:numCache>
                <c:formatCode>0.00</c:formatCode>
                <c:ptCount val="21"/>
                <c:pt idx="0">
                  <c:v>92.700729927007302</c:v>
                </c:pt>
                <c:pt idx="1">
                  <c:v>92.543859649122808</c:v>
                </c:pt>
                <c:pt idx="2">
                  <c:v>93.388429752066116</c:v>
                </c:pt>
                <c:pt idx="3">
                  <c:v>91.880341880341874</c:v>
                </c:pt>
                <c:pt idx="4">
                  <c:v>95.121951219512198</c:v>
                </c:pt>
                <c:pt idx="5">
                  <c:v>94.623655913978496</c:v>
                </c:pt>
                <c:pt idx="6">
                  <c:v>94.360902255639104</c:v>
                </c:pt>
                <c:pt idx="7">
                  <c:v>93.488372093023258</c:v>
                </c:pt>
                <c:pt idx="8">
                  <c:v>88.571428571428569</c:v>
                </c:pt>
                <c:pt idx="9">
                  <c:v>92.405063291139243</c:v>
                </c:pt>
                <c:pt idx="10">
                  <c:v>90.526315789473685</c:v>
                </c:pt>
                <c:pt idx="11">
                  <c:v>95.020746887966794</c:v>
                </c:pt>
                <c:pt idx="12">
                  <c:v>94.977168949771681</c:v>
                </c:pt>
                <c:pt idx="13">
                  <c:v>92.712550607287454</c:v>
                </c:pt>
                <c:pt idx="14">
                  <c:v>94.711538461538453</c:v>
                </c:pt>
                <c:pt idx="15">
                  <c:v>93.95348837209302</c:v>
                </c:pt>
                <c:pt idx="16">
                  <c:v>93.600000000000009</c:v>
                </c:pt>
                <c:pt idx="17">
                  <c:v>91.699604743083</c:v>
                </c:pt>
                <c:pt idx="18">
                  <c:v>90.714285714285708</c:v>
                </c:pt>
                <c:pt idx="19">
                  <c:v>95.360824742268051</c:v>
                </c:pt>
                <c:pt idx="20">
                  <c:v>91.803278688524586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D43-4B14-BA95-C7AEF4CBE8E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734278064"/>
        <c:axId val="734278424"/>
      </c:lineChart>
      <c:catAx>
        <c:axId val="734278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4278424"/>
        <c:crosses val="autoZero"/>
        <c:auto val="1"/>
        <c:lblAlgn val="ctr"/>
        <c:lblOffset val="100"/>
        <c:noMultiLvlLbl val="0"/>
      </c:catAx>
      <c:valAx>
        <c:axId val="734278424"/>
        <c:scaling>
          <c:orientation val="minMax"/>
          <c:min val="3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4278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/>
              <a:t>Czas stracony na przestoje [h]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A86-4120-B2B1-D55A17B7AB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A86-4120-B2B1-D55A17B7AB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A86-4120-B2B1-D55A17B7ABA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A86-4120-B2B1-D55A17B7ABA7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A86-4120-B2B1-D55A17B7ABA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'Awarie WORK2'!$L$3:$P$3</c:f>
              <c:strCache>
                <c:ptCount val="5"/>
                <c:pt idx="0">
                  <c:v>Awarie</c:v>
                </c:pt>
                <c:pt idx="1">
                  <c:v>IT</c:v>
                </c:pt>
                <c:pt idx="2">
                  <c:v>Jakość</c:v>
                </c:pt>
                <c:pt idx="3">
                  <c:v>Ogólne</c:v>
                </c:pt>
                <c:pt idx="4">
                  <c:v>Szkolenia</c:v>
                </c:pt>
              </c:strCache>
            </c:strRef>
          </c:cat>
          <c:val>
            <c:numRef>
              <c:f>'Awarie WORK2'!$L$4:$P$4</c:f>
              <c:numCache>
                <c:formatCode>General</c:formatCode>
                <c:ptCount val="5"/>
                <c:pt idx="0" formatCode="0.00">
                  <c:v>16.75</c:v>
                </c:pt>
                <c:pt idx="1">
                  <c:v>0.16666666666666666</c:v>
                </c:pt>
                <c:pt idx="2" formatCode="0.00">
                  <c:v>8.3333333333333329E-2</c:v>
                </c:pt>
                <c:pt idx="3" formatCode="0.00">
                  <c:v>5.4</c:v>
                </c:pt>
                <c:pt idx="4" formatCode="0.00">
                  <c:v>1.25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A86-4120-B2B1-D55A17B7ABA7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3497019635749037"/>
          <c:y val="0.24170855084697448"/>
          <c:w val="0.12114151792731898"/>
          <c:h val="0.5864559035368771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/>
              <a:t>Procentowy podział czasu straconego na przestoje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684-410A-8930-05B6EF64227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684-410A-8930-05B6EF64227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684-410A-8930-05B6EF64227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684-410A-8930-05B6EF642272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5684-410A-8930-05B6EF64227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'Awarie WORK2'!$Q$1:$U$1</c:f>
              <c:strCache>
                <c:ptCount val="5"/>
                <c:pt idx="0">
                  <c:v>Procent awari</c:v>
                </c:pt>
                <c:pt idx="1">
                  <c:v>Procent IT</c:v>
                </c:pt>
                <c:pt idx="2">
                  <c:v>Procent Jakości</c:v>
                </c:pt>
                <c:pt idx="3">
                  <c:v>Procent Ogólny</c:v>
                </c:pt>
                <c:pt idx="4">
                  <c:v>Procent szkolenia</c:v>
                </c:pt>
              </c:strCache>
            </c:strRef>
          </c:cat>
          <c:val>
            <c:numRef>
              <c:f>'Awarie WORK2'!$Q$2:$U$2</c:f>
              <c:numCache>
                <c:formatCode>0.00</c:formatCode>
                <c:ptCount val="5"/>
                <c:pt idx="0">
                  <c:v>53.887399463806972</c:v>
                </c:pt>
                <c:pt idx="1">
                  <c:v>0.53619302949061665</c:v>
                </c:pt>
                <c:pt idx="2">
                  <c:v>0.26809651474530832</c:v>
                </c:pt>
                <c:pt idx="3">
                  <c:v>17.372654155495979</c:v>
                </c:pt>
                <c:pt idx="4">
                  <c:v>4.0214477211796247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684-410A-8930-05B6EF642272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3181171766572328"/>
          <c:y val="0.14966028552709745"/>
          <c:w val="0.20684360200284996"/>
          <c:h val="0.839042338325577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5243241842858615E-2"/>
          <c:y val="5.360120660972157E-2"/>
          <c:w val="0.93557091030700135"/>
          <c:h val="0.77243869600850024"/>
        </c:manualLayout>
      </c:layout>
      <c:lineChart>
        <c:grouping val="standard"/>
        <c:varyColors val="0"/>
        <c:ser>
          <c:idx val="0"/>
          <c:order val="0"/>
          <c:tx>
            <c:strRef>
              <c:f>dashboards!$C$64</c:f>
              <c:strCache>
                <c:ptCount val="1"/>
                <c:pt idx="0">
                  <c:v>% czasu przestoju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2"/>
              <c:layout>
                <c:manualLayout>
                  <c:x val="-2.0946942414636533E-2"/>
                  <c:y val="1.66747357603683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FA8-4B51-9E7A-CB6A2EB5526E}"/>
                </c:ext>
              </c:extLst>
            </c:dLbl>
            <c:dLbl>
              <c:idx val="9"/>
              <c:layout>
                <c:manualLayout>
                  <c:x val="-5.945199823182379E-3"/>
                  <c:y val="3.139851306080201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A8-4B51-9E7A-CB6A2EB5526E}"/>
                </c:ext>
              </c:extLst>
            </c:dLbl>
            <c:dLbl>
              <c:idx val="16"/>
              <c:layout>
                <c:manualLayout>
                  <c:x val="-1.5968635853107326E-2"/>
                  <c:y val="3.876040171101875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A8-4B51-9E7A-CB6A2EB5526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dashboards!$B$65:$B$85</c:f>
              <c:strCache>
                <c:ptCount val="21"/>
                <c:pt idx="0">
                  <c:v>19.05.2017 1</c:v>
                </c:pt>
                <c:pt idx="1">
                  <c:v>19.05.2017 2</c:v>
                </c:pt>
                <c:pt idx="2">
                  <c:v>19.05.2017 3</c:v>
                </c:pt>
                <c:pt idx="3">
                  <c:v>20.05.2017 1</c:v>
                </c:pt>
                <c:pt idx="4">
                  <c:v>20.05.2017 2</c:v>
                </c:pt>
                <c:pt idx="5">
                  <c:v>20.05.2017 3</c:v>
                </c:pt>
                <c:pt idx="6">
                  <c:v>21.05.2017 1</c:v>
                </c:pt>
                <c:pt idx="7">
                  <c:v>21.05.2017 2</c:v>
                </c:pt>
                <c:pt idx="8">
                  <c:v>21.05.2017 3</c:v>
                </c:pt>
                <c:pt idx="9">
                  <c:v>22.05.2017 1</c:v>
                </c:pt>
                <c:pt idx="10">
                  <c:v>22.05.2017 2</c:v>
                </c:pt>
                <c:pt idx="11">
                  <c:v>22.05.2017 3</c:v>
                </c:pt>
                <c:pt idx="12">
                  <c:v>23.05.2017 1</c:v>
                </c:pt>
                <c:pt idx="13">
                  <c:v>23.05.2017 2</c:v>
                </c:pt>
                <c:pt idx="14">
                  <c:v>23.05.2017 3</c:v>
                </c:pt>
                <c:pt idx="15">
                  <c:v>24.05.2017 1</c:v>
                </c:pt>
                <c:pt idx="16">
                  <c:v>24.05.2017 2</c:v>
                </c:pt>
                <c:pt idx="17">
                  <c:v>24.05.2017 3</c:v>
                </c:pt>
                <c:pt idx="18">
                  <c:v>25.05.2017 1</c:v>
                </c:pt>
                <c:pt idx="19">
                  <c:v>25.05.2017 2</c:v>
                </c:pt>
                <c:pt idx="20">
                  <c:v>25.05.2017 3</c:v>
                </c:pt>
              </c:strCache>
            </c:strRef>
          </c:cat>
          <c:val>
            <c:numRef>
              <c:f>dashboards!$C$65:$C$85</c:f>
              <c:numCache>
                <c:formatCode>0.0</c:formatCode>
                <c:ptCount val="21"/>
                <c:pt idx="0">
                  <c:v>50</c:v>
                </c:pt>
                <c:pt idx="1">
                  <c:v>17.333333333333336</c:v>
                </c:pt>
                <c:pt idx="2">
                  <c:v>4.4444444444444446</c:v>
                </c:pt>
                <c:pt idx="3">
                  <c:v>0</c:v>
                </c:pt>
                <c:pt idx="4">
                  <c:v>0</c:v>
                </c:pt>
                <c:pt idx="5">
                  <c:v>34.222222222222221</c:v>
                </c:pt>
                <c:pt idx="6">
                  <c:v>0</c:v>
                </c:pt>
                <c:pt idx="7">
                  <c:v>0</c:v>
                </c:pt>
                <c:pt idx="8">
                  <c:v>13.333333333333334</c:v>
                </c:pt>
                <c:pt idx="9">
                  <c:v>63.111111111111107</c:v>
                </c:pt>
                <c:pt idx="10">
                  <c:v>58.888888888888893</c:v>
                </c:pt>
                <c:pt idx="11">
                  <c:v>13.555555555555557</c:v>
                </c:pt>
                <c:pt idx="12">
                  <c:v>7.5555555555555554</c:v>
                </c:pt>
                <c:pt idx="13">
                  <c:v>23.555555555555554</c:v>
                </c:pt>
                <c:pt idx="14">
                  <c:v>13.333333333333334</c:v>
                </c:pt>
                <c:pt idx="15">
                  <c:v>6.666666666666667</c:v>
                </c:pt>
                <c:pt idx="16">
                  <c:v>34.444444444444443</c:v>
                </c:pt>
                <c:pt idx="17">
                  <c:v>1.1111111111111112</c:v>
                </c:pt>
                <c:pt idx="18">
                  <c:v>12</c:v>
                </c:pt>
                <c:pt idx="19">
                  <c:v>12.222222222222221</c:v>
                </c:pt>
                <c:pt idx="20">
                  <c:v>10.888888888888888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A8-4B51-9E7A-CB6A2EB5526E}"/>
            </c:ext>
          </c:extLst>
        </c:ser>
        <c:ser>
          <c:idx val="1"/>
          <c:order val="1"/>
          <c:tx>
            <c:strRef>
              <c:f>dashboards!$D$64</c:f>
              <c:strCache>
                <c:ptCount val="1"/>
                <c:pt idx="0">
                  <c:v>FPY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dashboards!$B$65:$B$85</c:f>
              <c:strCache>
                <c:ptCount val="21"/>
                <c:pt idx="0">
                  <c:v>19.05.2017 1</c:v>
                </c:pt>
                <c:pt idx="1">
                  <c:v>19.05.2017 2</c:v>
                </c:pt>
                <c:pt idx="2">
                  <c:v>19.05.2017 3</c:v>
                </c:pt>
                <c:pt idx="3">
                  <c:v>20.05.2017 1</c:v>
                </c:pt>
                <c:pt idx="4">
                  <c:v>20.05.2017 2</c:v>
                </c:pt>
                <c:pt idx="5">
                  <c:v>20.05.2017 3</c:v>
                </c:pt>
                <c:pt idx="6">
                  <c:v>21.05.2017 1</c:v>
                </c:pt>
                <c:pt idx="7">
                  <c:v>21.05.2017 2</c:v>
                </c:pt>
                <c:pt idx="8">
                  <c:v>21.05.2017 3</c:v>
                </c:pt>
                <c:pt idx="9">
                  <c:v>22.05.2017 1</c:v>
                </c:pt>
                <c:pt idx="10">
                  <c:v>22.05.2017 2</c:v>
                </c:pt>
                <c:pt idx="11">
                  <c:v>22.05.2017 3</c:v>
                </c:pt>
                <c:pt idx="12">
                  <c:v>23.05.2017 1</c:v>
                </c:pt>
                <c:pt idx="13">
                  <c:v>23.05.2017 2</c:v>
                </c:pt>
                <c:pt idx="14">
                  <c:v>23.05.2017 3</c:v>
                </c:pt>
                <c:pt idx="15">
                  <c:v>24.05.2017 1</c:v>
                </c:pt>
                <c:pt idx="16">
                  <c:v>24.05.2017 2</c:v>
                </c:pt>
                <c:pt idx="17">
                  <c:v>24.05.2017 3</c:v>
                </c:pt>
                <c:pt idx="18">
                  <c:v>25.05.2017 1</c:v>
                </c:pt>
                <c:pt idx="19">
                  <c:v>25.05.2017 2</c:v>
                </c:pt>
                <c:pt idx="20">
                  <c:v>25.05.2017 3</c:v>
                </c:pt>
              </c:strCache>
            </c:strRef>
          </c:cat>
          <c:val>
            <c:numRef>
              <c:f>dashboards!$D$65:$D$85</c:f>
              <c:numCache>
                <c:formatCode>0.00</c:formatCode>
                <c:ptCount val="21"/>
                <c:pt idx="0">
                  <c:v>76.890756302521012</c:v>
                </c:pt>
                <c:pt idx="1">
                  <c:v>91.428571428571431</c:v>
                </c:pt>
                <c:pt idx="2">
                  <c:v>96.529284164858993</c:v>
                </c:pt>
                <c:pt idx="3">
                  <c:v>97.552447552447546</c:v>
                </c:pt>
                <c:pt idx="4">
                  <c:v>93.686868686868678</c:v>
                </c:pt>
                <c:pt idx="5">
                  <c:v>91.153846153846146</c:v>
                </c:pt>
                <c:pt idx="6">
                  <c:v>93.872549019607845</c:v>
                </c:pt>
                <c:pt idx="7">
                  <c:v>95.882352941176478</c:v>
                </c:pt>
                <c:pt idx="8">
                  <c:v>92.757660167130922</c:v>
                </c:pt>
                <c:pt idx="9">
                  <c:v>97.002724795640333</c:v>
                </c:pt>
                <c:pt idx="10">
                  <c:v>98.730158730158735</c:v>
                </c:pt>
                <c:pt idx="11">
                  <c:v>99.120879120879124</c:v>
                </c:pt>
                <c:pt idx="12">
                  <c:v>96.498905908096276</c:v>
                </c:pt>
                <c:pt idx="13">
                  <c:v>94.308943089430898</c:v>
                </c:pt>
                <c:pt idx="14">
                  <c:v>92.533936651583716</c:v>
                </c:pt>
                <c:pt idx="15">
                  <c:v>95.964125560538122</c:v>
                </c:pt>
                <c:pt idx="16">
                  <c:v>90.163934426229503</c:v>
                </c:pt>
                <c:pt idx="17">
                  <c:v>94.279176201372991</c:v>
                </c:pt>
                <c:pt idx="18">
                  <c:v>92.643678160919535</c:v>
                </c:pt>
                <c:pt idx="19">
                  <c:v>98.205128205128204</c:v>
                </c:pt>
                <c:pt idx="20">
                  <c:v>94.878048780487802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FA8-4B51-9E7A-CB6A2EB5526E}"/>
            </c:ext>
          </c:extLst>
        </c:ser>
        <c:ser>
          <c:idx val="2"/>
          <c:order val="2"/>
          <c:tx>
            <c:strRef>
              <c:f>dashboards!$E$64</c:f>
              <c:strCache>
                <c:ptCount val="1"/>
                <c:pt idx="0">
                  <c:v>Wszystkie zmontowane / CEL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dashboards!$B$65:$B$85</c:f>
              <c:strCache>
                <c:ptCount val="21"/>
                <c:pt idx="0">
                  <c:v>19.05.2017 1</c:v>
                </c:pt>
                <c:pt idx="1">
                  <c:v>19.05.2017 2</c:v>
                </c:pt>
                <c:pt idx="2">
                  <c:v>19.05.2017 3</c:v>
                </c:pt>
                <c:pt idx="3">
                  <c:v>20.05.2017 1</c:v>
                </c:pt>
                <c:pt idx="4">
                  <c:v>20.05.2017 2</c:v>
                </c:pt>
                <c:pt idx="5">
                  <c:v>20.05.2017 3</c:v>
                </c:pt>
                <c:pt idx="6">
                  <c:v>21.05.2017 1</c:v>
                </c:pt>
                <c:pt idx="7">
                  <c:v>21.05.2017 2</c:v>
                </c:pt>
                <c:pt idx="8">
                  <c:v>21.05.2017 3</c:v>
                </c:pt>
                <c:pt idx="9">
                  <c:v>22.05.2017 1</c:v>
                </c:pt>
                <c:pt idx="10">
                  <c:v>22.05.2017 2</c:v>
                </c:pt>
                <c:pt idx="11">
                  <c:v>22.05.2017 3</c:v>
                </c:pt>
                <c:pt idx="12">
                  <c:v>23.05.2017 1</c:v>
                </c:pt>
                <c:pt idx="13">
                  <c:v>23.05.2017 2</c:v>
                </c:pt>
                <c:pt idx="14">
                  <c:v>23.05.2017 3</c:v>
                </c:pt>
                <c:pt idx="15">
                  <c:v>24.05.2017 1</c:v>
                </c:pt>
                <c:pt idx="16">
                  <c:v>24.05.2017 2</c:v>
                </c:pt>
                <c:pt idx="17">
                  <c:v>24.05.2017 3</c:v>
                </c:pt>
                <c:pt idx="18">
                  <c:v>25.05.2017 1</c:v>
                </c:pt>
                <c:pt idx="19">
                  <c:v>25.05.2017 2</c:v>
                </c:pt>
                <c:pt idx="20">
                  <c:v>25.05.2017 3</c:v>
                </c:pt>
              </c:strCache>
            </c:strRef>
          </c:cat>
          <c:val>
            <c:numRef>
              <c:f>dashboards!$E$65:$E$85</c:f>
              <c:numCache>
                <c:formatCode>0.0</c:formatCode>
                <c:ptCount val="21"/>
                <c:pt idx="0">
                  <c:v>50.773333333333341</c:v>
                </c:pt>
                <c:pt idx="1">
                  <c:v>61.707988980716252</c:v>
                </c:pt>
                <c:pt idx="2">
                  <c:v>98.346666666666664</c:v>
                </c:pt>
                <c:pt idx="3">
                  <c:v>61.013333333333328</c:v>
                </c:pt>
                <c:pt idx="4">
                  <c:v>84.48</c:v>
                </c:pt>
                <c:pt idx="5">
                  <c:v>75.090252707581229</c:v>
                </c:pt>
                <c:pt idx="6">
                  <c:v>90.165745856353595</c:v>
                </c:pt>
                <c:pt idx="7">
                  <c:v>45.033112582781456</c:v>
                </c:pt>
                <c:pt idx="8">
                  <c:v>76.586666666666673</c:v>
                </c:pt>
                <c:pt idx="9">
                  <c:v>78.293333333333337</c:v>
                </c:pt>
                <c:pt idx="10">
                  <c:v>67.2</c:v>
                </c:pt>
                <c:pt idx="11">
                  <c:v>97.066666666666663</c:v>
                </c:pt>
                <c:pt idx="12">
                  <c:v>97.493333333333325</c:v>
                </c:pt>
                <c:pt idx="13">
                  <c:v>78.72</c:v>
                </c:pt>
                <c:pt idx="14">
                  <c:v>94.293333333333322</c:v>
                </c:pt>
                <c:pt idx="15">
                  <c:v>95.146666666666675</c:v>
                </c:pt>
                <c:pt idx="16">
                  <c:v>78.08</c:v>
                </c:pt>
                <c:pt idx="17">
                  <c:v>93.226666666666674</c:v>
                </c:pt>
                <c:pt idx="18">
                  <c:v>92.800000000000011</c:v>
                </c:pt>
                <c:pt idx="19">
                  <c:v>83.2</c:v>
                </c:pt>
                <c:pt idx="20">
                  <c:v>87.466666666666669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2FA8-4B51-9E7A-CB6A2EB5526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764565552"/>
        <c:axId val="764565912"/>
      </c:lineChart>
      <c:catAx>
        <c:axId val="764565552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64565912"/>
        <c:crosses val="autoZero"/>
        <c:auto val="1"/>
        <c:lblAlgn val="ctr"/>
        <c:lblOffset val="100"/>
        <c:noMultiLvlLbl val="0"/>
      </c:catAx>
      <c:valAx>
        <c:axId val="7645659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accent1"/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Wartość [%]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6456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71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503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676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115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653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93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973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11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080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746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203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46001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8789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8991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9590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1405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099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3D9432A8-67B2-4540-89F6-313E0AD6D97C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2D6082-DE86-4278-80F5-9DB204DA4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76721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97624-B79F-5A34-EA7E-19398F7D93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Analiza problemów na linii montażowej X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7C7D-8976-49FD-72E1-CFE936D054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93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EB71755-17D0-E601-B947-85645F51CB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03455326"/>
              </p:ext>
            </p:extLst>
          </p:nvPr>
        </p:nvGraphicFramePr>
        <p:xfrm>
          <a:off x="490353" y="589936"/>
          <a:ext cx="11211293" cy="54470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7320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3">
            <a:extLst>
              <a:ext uri="{FF2B5EF4-FFF2-40B4-BE49-F238E27FC236}">
                <a16:creationId xmlns:a16="http://schemas.microsoft.com/office/drawing/2014/main" id="{039AE0CE-F38F-487D-6B57-8EA272894E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6428543"/>
              </p:ext>
            </p:extLst>
          </p:nvPr>
        </p:nvGraphicFramePr>
        <p:xfrm>
          <a:off x="1" y="0"/>
          <a:ext cx="12107916" cy="68579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2843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2">
            <a:extLst>
              <a:ext uri="{FF2B5EF4-FFF2-40B4-BE49-F238E27FC236}">
                <a16:creationId xmlns:a16="http://schemas.microsoft.com/office/drawing/2014/main" id="{794AF52E-C86A-5BE0-0F8B-50F72D6793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2558313"/>
              </p:ext>
            </p:extLst>
          </p:nvPr>
        </p:nvGraphicFramePr>
        <p:xfrm>
          <a:off x="68826" y="0"/>
          <a:ext cx="11857703" cy="67449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41751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C559-5C6A-A6A2-8800-4EA783F03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Podsumowanie i wnioski etap 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D3050-F6C0-35C4-55F3-1E83AF59DE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FPY dla tylko jednej z dwudziestu jeden zmian wynosił poniżej 90% co pokazuje, że nie jest to kluczowy problem, lecz jest tu możliwość do poprawy i dalszego doskonalenia. </a:t>
            </a:r>
          </a:p>
          <a:p>
            <a:r>
              <a:rPr lang="pl-PL" dirty="0"/>
              <a:t>Ponad 66% czasu poświęconego na przestoje linii jest generowane przez awarie i serwisy (sumarycznie opisane jako awarie) i jest to główna przyczyna przestojów linii którą należało by zająć się w pierwszej kolejności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14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25445-AE2F-479D-06A2-B6CB3653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689" y="6096000"/>
            <a:ext cx="11674935" cy="606088"/>
          </a:xfrm>
        </p:spPr>
        <p:txBody>
          <a:bodyPr/>
          <a:lstStyle/>
          <a:p>
            <a:r>
              <a:rPr lang="pl-PL" sz="1500" dirty="0"/>
              <a:t>* We wcześniejszym wykresie został znaleziony błąd w wyliczonych wartościach FPY, co zostało poprawione na następnym wykresie</a:t>
            </a:r>
            <a:endParaRPr lang="en-US" sz="15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51B0BE5-D7BC-37A1-B834-61983E4CC1AC}"/>
              </a:ext>
            </a:extLst>
          </p:cNvPr>
          <p:cNvSpPr txBox="1">
            <a:spLocks/>
          </p:cNvSpPr>
          <p:nvPr/>
        </p:nvSpPr>
        <p:spPr>
          <a:xfrm>
            <a:off x="3088815" y="2965786"/>
            <a:ext cx="6319170" cy="123122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l-PL" sz="5400"/>
              <a:t>Drugi etap analizy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403926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78913-F89C-006D-693B-0748B5494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636" y="166968"/>
            <a:ext cx="9674839" cy="928407"/>
          </a:xfrm>
        </p:spPr>
        <p:txBody>
          <a:bodyPr/>
          <a:lstStyle/>
          <a:p>
            <a:r>
              <a:rPr lang="pl-PL" sz="2400" dirty="0"/>
              <a:t>Porównanie wskaźnika FPY, awarii i wydajności z podziałem na poszczególne zmiany w przedziale tygodnia</a:t>
            </a:r>
            <a:endParaRPr lang="en-US" sz="2400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BA82575-9346-2B1A-1450-5F702DCD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51008554"/>
              </p:ext>
            </p:extLst>
          </p:nvPr>
        </p:nvGraphicFramePr>
        <p:xfrm>
          <a:off x="365759" y="752354"/>
          <a:ext cx="11384281" cy="59386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18869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D4826-ED25-48CB-8FEF-7F32C0C76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8CA68-5DAA-9586-3B01-C24DBEB6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Podsumowanie i wnioski etap II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DEC0A-E893-3BD1-6AAB-4DB3F245A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sz="1600" dirty="0"/>
              <a:t>Porównanie wskaźników na jednym wykresie daje możliwość szerszej analizy występujących problemów. Dzięki temu można określić czy dany wskaźnik jest jakoś skorelowany z innym. </a:t>
            </a:r>
          </a:p>
          <a:p>
            <a:r>
              <a:rPr lang="pl-PL" sz="1600" dirty="0"/>
              <a:t>Analiza FPY pokazuje, że wskaźnik praktycznie nie spada poniżej 90%, co świadczy o jego stabilności. Można pracować nad jego poprawą, lecz nie jest to główna przyczyna problemów.</a:t>
            </a:r>
          </a:p>
          <a:p>
            <a:r>
              <a:rPr lang="pl-PL" sz="1600" dirty="0"/>
              <a:t>Analiza wskaźnika wydajności pokazuje dużą zmienność, która może wynikać z przestojów linii i na jej ustabilizowaniu należałoby się skupić. Dodatkowo widać, że drugie zmiany na ogół mają niższą wydajność niż zmiany 1 i 3 co mogłoby świadczyć o czynniku ludzkim. W dalszych krokach należałoby skupić się na analizie przestojów na drugiej zmianie, oraz pracy operatorów.</a:t>
            </a:r>
          </a:p>
          <a:p>
            <a:r>
              <a:rPr lang="pl-PL" sz="1600" dirty="0"/>
              <a:t>Analiza wskaźnika awarii również pokazuje dużą zmienność i na jego analizie będziemy skupiać się w dalszej części analizy. Ponadto widać, że jego wzrost wpływa na wskaźnik wydajności. </a:t>
            </a:r>
          </a:p>
        </p:txBody>
      </p:sp>
    </p:spTree>
    <p:extLst>
      <p:ext uri="{BB962C8B-B14F-4D97-AF65-F5344CB8AC3E}">
        <p14:creationId xmlns:p14="http://schemas.microsoft.com/office/powerpoint/2010/main" val="39319363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318</TotalTime>
  <Words>289</Words>
  <Application>Microsoft Office PowerPoint</Application>
  <PresentationFormat>Panoramiczny</PresentationFormat>
  <Paragraphs>20</Paragraphs>
  <Slides>8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8</vt:i4>
      </vt:variant>
    </vt:vector>
  </HeadingPairs>
  <TitlesOfParts>
    <vt:vector size="11" baseType="lpstr">
      <vt:lpstr>Century Gothic</vt:lpstr>
      <vt:lpstr>Wingdings 3</vt:lpstr>
      <vt:lpstr>Ion</vt:lpstr>
      <vt:lpstr>Analiza problemów na linii montażowej X</vt:lpstr>
      <vt:lpstr>Prezentacja programu PowerPoint</vt:lpstr>
      <vt:lpstr>Prezentacja programu PowerPoint</vt:lpstr>
      <vt:lpstr>Prezentacja programu PowerPoint</vt:lpstr>
      <vt:lpstr>Podsumowanie i wnioski etap I</vt:lpstr>
      <vt:lpstr>* We wcześniejszym wykresie został znaleziony błąd w wyliczonych wartościach FPY, co zostało poprawione na następnym wykresie</vt:lpstr>
      <vt:lpstr>Porównanie wskaźnika FPY, awarii i wydajności z podziałem na poszczególne zmiany w przedziale tygodnia</vt:lpstr>
      <vt:lpstr>Podsumowanie i wnioski etap II</vt:lpstr>
    </vt:vector>
  </TitlesOfParts>
  <Company>Danfoss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Jacek Ostrowski</dc:creator>
  <cp:lastModifiedBy>Jacek Ostrowski</cp:lastModifiedBy>
  <cp:revision>9</cp:revision>
  <dcterms:created xsi:type="dcterms:W3CDTF">2025-05-16T07:34:45Z</dcterms:created>
  <dcterms:modified xsi:type="dcterms:W3CDTF">2026-06-02T19:31:46Z</dcterms:modified>
</cp:coreProperties>
</file>